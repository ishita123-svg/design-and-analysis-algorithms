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Algorithm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Spanning Tree using the Greedy Approach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457200" cy="3657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7947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Ishita Thakre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25070521078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 flipV="1">
            <a:off x="6035040" y="1280160"/>
            <a:ext cx="1828800" cy="18288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0" y="1463040"/>
            <a:ext cx="548640" cy="128016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1280160"/>
            <a:ext cx="365760" cy="1645920"/>
          </a:xfrm>
          <a:prstGeom prst="line">
            <a:avLst/>
          </a:prstGeom>
          <a:noFill/>
          <a:ln w="19050">
            <a:solidFill>
              <a:srgbClr val="C5CCD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 flipV="1">
            <a:off x="6583680" y="1280160"/>
            <a:ext cx="1280160" cy="1463040"/>
          </a:xfrm>
          <a:prstGeom prst="line">
            <a:avLst/>
          </a:prstGeom>
          <a:noFill/>
          <a:ln w="19050">
            <a:solidFill>
              <a:srgbClr val="C5CCD6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583680" y="2743200"/>
            <a:ext cx="1645920" cy="18288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6309360" y="2743200"/>
            <a:ext cx="274320" cy="128016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4023360"/>
            <a:ext cx="1645920" cy="18288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7955280" y="2926080"/>
            <a:ext cx="274320" cy="1280160"/>
          </a:xfrm>
          <a:prstGeom prst="line">
            <a:avLst/>
          </a:prstGeom>
          <a:noFill/>
          <a:ln w="19050">
            <a:solidFill>
              <a:srgbClr val="C5CCD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812280" y="127101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12280" y="12710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20025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20025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909560" y="20025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09560" y="20025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86600" y="191109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86600" y="19110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69480" y="273405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69480" y="27340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328269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09360" y="32826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95160" y="401421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95160" y="40142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55280" y="346557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955280" y="34655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33872" y="126187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833872" y="1261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662672" y="107899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62672" y="1078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028432" y="272491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28432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382512" y="254203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82512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108192" y="382219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108192" y="3822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754112" y="400507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54112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Tree &amp; Minimum Spanning Tree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Algorithm | Design &amp; Analysis of Algorithms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60120"/>
            <a:ext cx="4480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tree: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subgraph of a connected graph that includes all V vertices, is connected and has no cycle.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Spanning Tree (MST):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spanning tree whose total edge weight is the smallest possible.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of an MST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exactly V − 1 edges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and acyclic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not be unique if edge weights repeat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network cabling, road/pipeline design, clustering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914400"/>
            <a:ext cx="3749040" cy="37490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0" y="1645920"/>
            <a:ext cx="2286000" cy="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6812280" y="1645920"/>
            <a:ext cx="1143000" cy="109728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5669280" y="2743200"/>
            <a:ext cx="1143000" cy="100584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2280" y="2743200"/>
            <a:ext cx="1143000" cy="100584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1645920"/>
            <a:ext cx="1143000" cy="1097280"/>
          </a:xfrm>
          <a:prstGeom prst="line">
            <a:avLst/>
          </a:prstGeom>
          <a:noFill/>
          <a:ln w="19050">
            <a:solidFill>
              <a:srgbClr val="C5CCD6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669280" y="3749040"/>
            <a:ext cx="2286000" cy="0"/>
          </a:xfrm>
          <a:prstGeom prst="line">
            <a:avLst/>
          </a:prstGeom>
          <a:noFill/>
          <a:ln w="19050">
            <a:solidFill>
              <a:srgbClr val="C5CCD6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675120" y="15453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15453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46620" y="209397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46620" y="20939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03620" y="31455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03620" y="31455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46620" y="31455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46620" y="31455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03620" y="209397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03620" y="20939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75120" y="364845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0" y="36484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68112" y="144475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68112" y="1444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754112" y="144475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54112" y="1444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611112" y="254203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11112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68112" y="354787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68112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754112" y="354787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54112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120640" y="4297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= MST edges (total = 11)   Dashed = not used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Ideas Behind Kruskal's Algorithm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Algorithm | Design &amp; Analysis of Algorithms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297680" cy="10972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64008" cy="10972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0058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Greedy choice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pick the cheapest remaining edge. Locally optimal choices lead to a globally optimal MST.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4297680" cy="10972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94560"/>
            <a:ext cx="64008" cy="10972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2402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Avoid cycles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edge is safe only if its two end vertices lie in different components. Otherwise it forms a cycle.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429000"/>
            <a:ext cx="4297680" cy="10972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429000"/>
            <a:ext cx="64008" cy="10972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4747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Disjoint Set (Union-Find)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Find(x) returns the set leader; Union(x,y) merges two sets. Both run in nearly O(1) with path compression.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960120"/>
            <a:ext cx="3840480" cy="35661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Union(D, E): two separate sets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1783080"/>
            <a:ext cx="0" cy="457200"/>
          </a:xfrm>
          <a:prstGeom prst="line">
            <a:avLst/>
          </a:prstGeom>
          <a:noFill/>
          <a:ln w="19050">
            <a:solidFill>
              <a:srgbClr val="8A94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0" y="1783080"/>
            <a:ext cx="0" cy="457200"/>
          </a:xfrm>
          <a:prstGeom prst="line">
            <a:avLst/>
          </a:prstGeom>
          <a:noFill/>
          <a:ln w="19050">
            <a:solidFill>
              <a:srgbClr val="8A94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1417320"/>
            <a:ext cx="365760" cy="3657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60720" y="2240280"/>
            <a:ext cx="365760" cy="3657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072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98080" y="1417320"/>
            <a:ext cx="365760" cy="3657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98080" y="2240280"/>
            <a:ext cx="365760" cy="3657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Find(D)=A, Find(E)=C → different sets → safe to add edge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0" y="3017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after Union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 flipV="1">
            <a:off x="6217920" y="3520440"/>
            <a:ext cx="594360" cy="411480"/>
          </a:xfrm>
          <a:prstGeom prst="line">
            <a:avLst/>
          </a:prstGeom>
          <a:noFill/>
          <a:ln w="19050">
            <a:solidFill>
              <a:srgbClr val="8A94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12280" y="3520440"/>
            <a:ext cx="594360" cy="411480"/>
          </a:xfrm>
          <a:prstGeom prst="line">
            <a:avLst/>
          </a:prstGeom>
          <a:noFill/>
          <a:ln w="19050">
            <a:solidFill>
              <a:srgbClr val="8A94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06640" y="3931920"/>
            <a:ext cx="0" cy="365760"/>
          </a:xfrm>
          <a:prstGeom prst="line">
            <a:avLst/>
          </a:prstGeom>
          <a:noFill/>
          <a:ln w="19050">
            <a:solidFill>
              <a:srgbClr val="8A94A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29400" y="3200400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2940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035040" y="3931920"/>
            <a:ext cx="365760" cy="3657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03504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223760" y="3931920"/>
            <a:ext cx="365760" cy="3657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22376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223760" y="4297680"/>
            <a:ext cx="365760" cy="3657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22376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Steps, Pseudocode &amp; Flow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Algorithm | Design &amp; Analysis of Algorithms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572000" cy="374904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64008" cy="37490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987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325880"/>
            <a:ext cx="42519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KRUSKAL(G):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 = { }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vertex v:  MAKE-SET(v)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edges of E by weight (ascending)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edge (u, v) </a:t>
            </a:r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sorted order: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FIND(u) != FIND(v):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 = A + {(u, v)}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UNION(u, v)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8A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MST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0" y="91440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0" y="914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all edges by weight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0" y="1371600"/>
            <a:ext cx="0" cy="182880"/>
          </a:xfrm>
          <a:prstGeom prst="line">
            <a:avLst/>
          </a:prstGeom>
          <a:noFill/>
          <a:ln w="2540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0" y="155448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next smallest edge (u, v)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0" y="2011680"/>
            <a:ext cx="0" cy="182880"/>
          </a:xfrm>
          <a:prstGeom prst="line">
            <a:avLst/>
          </a:prstGeom>
          <a:noFill/>
          <a:ln w="2540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0" y="219456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0" y="2194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form a cycle?  Find(u) = Find(v)?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2743200"/>
            <a:ext cx="0" cy="182880"/>
          </a:xfrm>
          <a:prstGeom prst="line">
            <a:avLst/>
          </a:prstGeom>
          <a:noFill/>
          <a:ln w="2540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0" y="292608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add edge to MST, Union(u, v)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35204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discard edge, go to next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49440" y="3383280"/>
            <a:ext cx="0" cy="182880"/>
          </a:xfrm>
          <a:prstGeom prst="line">
            <a:avLst/>
          </a:prstGeom>
          <a:noFill/>
          <a:ln w="2540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5486400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the MST has V − 1 edges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in Simple Steps &amp; Union-Find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Algorithm | Design &amp; Analysis of Algorithms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1480" cy="4114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960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all edges in non-decreasing order of weight.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609344"/>
            <a:ext cx="411480" cy="4114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" y="1609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156362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V separate sets, one for each vertex.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2212848"/>
            <a:ext cx="411480" cy="4114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1671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an empty MST edge set 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16352"/>
            <a:ext cx="411480" cy="4114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760" y="2816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7706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smallest edge (u, v) not yet processed.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3419856"/>
            <a:ext cx="411480" cy="4114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" y="34198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337413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Find(u) ≠ Find(v): add (u, v) to A and Union(u, v).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5760" y="4023360"/>
            <a:ext cx="411480" cy="4114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576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39776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it forms a cycle: discard it. Repeat until A has V − 1 edges.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212080" y="914400"/>
            <a:ext cx="3566160" cy="374904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12080" y="914400"/>
            <a:ext cx="64008" cy="37490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40680" y="987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Union-Find helper functions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40680" y="132588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FIND(x):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parent[x] != x: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parent[x] = FIND(parent[x])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parent[x]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UNION(x, y):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rx = FIND(x);  ry = FIND(y)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attach lower-rank root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under higher-rank root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40680" y="3840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compression + union by rank make each operation almost O(1).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Input Graph (7 vertices, 11 edges)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Algorithm | Design &amp; Analysis of Algorithms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 flipV="1">
            <a:off x="822960" y="1371600"/>
            <a:ext cx="1371600" cy="548640"/>
          </a:xfrm>
          <a:prstGeom prst="line">
            <a:avLst/>
          </a:prstGeom>
          <a:noFill/>
          <a:ln w="19050">
            <a:solidFill>
              <a:srgbClr val="9AA5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20240"/>
            <a:ext cx="548640" cy="1280160"/>
          </a:xfrm>
          <a:prstGeom prst="line">
            <a:avLst/>
          </a:prstGeom>
          <a:noFill/>
          <a:ln w="19050">
            <a:solidFill>
              <a:srgbClr val="9AA5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1371600"/>
            <a:ext cx="1554480" cy="91440"/>
          </a:xfrm>
          <a:prstGeom prst="line">
            <a:avLst/>
          </a:prstGeom>
          <a:noFill/>
          <a:ln w="19050">
            <a:solidFill>
              <a:srgbClr val="9AA5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0" y="1371600"/>
            <a:ext cx="822960" cy="1828800"/>
          </a:xfrm>
          <a:prstGeom prst="line">
            <a:avLst/>
          </a:prstGeom>
          <a:noFill/>
          <a:ln w="19050">
            <a:solidFill>
              <a:srgbClr val="9AA5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371600"/>
            <a:ext cx="914400" cy="1463040"/>
          </a:xfrm>
          <a:prstGeom prst="line">
            <a:avLst/>
          </a:prstGeom>
          <a:noFill/>
          <a:ln w="19050">
            <a:solidFill>
              <a:srgbClr val="9AA5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3108960" y="1463040"/>
            <a:ext cx="640080" cy="1371600"/>
          </a:xfrm>
          <a:prstGeom prst="line">
            <a:avLst/>
          </a:prstGeom>
          <a:noFill/>
          <a:ln w="19050">
            <a:solidFill>
              <a:srgbClr val="9AA5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371600" y="2834640"/>
            <a:ext cx="1737360" cy="365760"/>
          </a:xfrm>
          <a:prstGeom prst="line">
            <a:avLst/>
          </a:prstGeom>
          <a:noFill/>
          <a:ln w="19050">
            <a:solidFill>
              <a:srgbClr val="9AA5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3200400"/>
            <a:ext cx="731520" cy="1005840"/>
          </a:xfrm>
          <a:prstGeom prst="line">
            <a:avLst/>
          </a:prstGeom>
          <a:noFill/>
          <a:ln w="19050">
            <a:solidFill>
              <a:srgbClr val="9AA5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2103120" y="2834640"/>
            <a:ext cx="1005840" cy="1371600"/>
          </a:xfrm>
          <a:prstGeom prst="line">
            <a:avLst/>
          </a:prstGeom>
          <a:noFill/>
          <a:ln w="19050">
            <a:solidFill>
              <a:srgbClr val="9AA5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8960" y="2834640"/>
            <a:ext cx="1097280" cy="1005840"/>
          </a:xfrm>
          <a:prstGeom prst="line">
            <a:avLst/>
          </a:prstGeom>
          <a:noFill/>
          <a:ln w="19050">
            <a:solidFill>
              <a:srgbClr val="9AA5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2103120" y="3840480"/>
            <a:ext cx="2103120" cy="365760"/>
          </a:xfrm>
          <a:prstGeom prst="line">
            <a:avLst/>
          </a:prstGeom>
          <a:noFill/>
          <a:ln w="19050">
            <a:solidFill>
              <a:srgbClr val="9AA5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15453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71600" y="15453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0120" y="24597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24597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34640" y="13167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34640" y="13167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45920" y="218541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645920" y="21854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14600" y="20025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514600" y="20025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0" y="204825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291840" y="20482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103120" y="29169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103120" y="29169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00200" y="36027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600200" y="36027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468880" y="341985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468880" y="34198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520440" y="323697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520440" y="32369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017520" y="392277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017520" y="39227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" y="171907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1792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993392" y="117043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993392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547872" y="126187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547872" y="1261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1170432" y="299923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170432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907792" y="263347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907792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1901952" y="400507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901952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005072" y="363931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005072" y="3639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914400"/>
          <a:ext cx="32004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46304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–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– 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– 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–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– 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–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– 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–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– 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– 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– 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4" name="Text 51"/>
          <p:cNvSpPr txBox="1"/>
          <p:nvPr/>
        </p:nvSpPr>
        <p:spPr>
          <a:xfrm>
            <a:off x="548640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edges sorted by weight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Execution &amp; Resulting MST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Algorithm | Design &amp; Analysis of Algorithms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 flipV="1">
            <a:off x="822960" y="1371600"/>
            <a:ext cx="1371600" cy="54864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20240"/>
            <a:ext cx="548640" cy="128016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1371600"/>
            <a:ext cx="1554480" cy="91440"/>
          </a:xfrm>
          <a:prstGeom prst="line">
            <a:avLst/>
          </a:prstGeom>
          <a:noFill/>
          <a:ln w="19050">
            <a:solidFill>
              <a:srgbClr val="C5CCD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flipV="1">
            <a:off x="1371600" y="1371600"/>
            <a:ext cx="822960" cy="1828800"/>
          </a:xfrm>
          <a:prstGeom prst="line">
            <a:avLst/>
          </a:prstGeom>
          <a:noFill/>
          <a:ln w="19050">
            <a:solidFill>
              <a:srgbClr val="C5CCD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194560" y="1371600"/>
            <a:ext cx="914400" cy="146304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3108960" y="1463040"/>
            <a:ext cx="640080" cy="137160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371600" y="2834640"/>
            <a:ext cx="1737360" cy="365760"/>
          </a:xfrm>
          <a:prstGeom prst="line">
            <a:avLst/>
          </a:prstGeom>
          <a:noFill/>
          <a:ln w="19050">
            <a:solidFill>
              <a:srgbClr val="C5CCD6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371600" y="3200400"/>
            <a:ext cx="731520" cy="100584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2103120" y="2834640"/>
            <a:ext cx="1005840" cy="1371600"/>
          </a:xfrm>
          <a:prstGeom prst="line">
            <a:avLst/>
          </a:prstGeom>
          <a:noFill/>
          <a:ln w="19050">
            <a:solidFill>
              <a:srgbClr val="C5CCD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108960" y="2834640"/>
            <a:ext cx="1097280" cy="100584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2103120" y="3840480"/>
            <a:ext cx="2103120" cy="365760"/>
          </a:xfrm>
          <a:prstGeom prst="line">
            <a:avLst/>
          </a:prstGeom>
          <a:noFill/>
          <a:ln w="19050">
            <a:solidFill>
              <a:srgbClr val="C5CCD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371600" y="15453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71600" y="15453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0120" y="24597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24597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34640" y="13167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34640" y="13167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45920" y="218541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645920" y="21854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14600" y="20025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514600" y="20025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0" y="204825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291840" y="20482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103120" y="29169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103120" y="29169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00200" y="36027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600200" y="36027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468880" y="341985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468880" y="34198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520440" y="323697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520440" y="32369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017520" y="392277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017520" y="39227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" y="171907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1792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993392" y="117043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993392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547872" y="126187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547872" y="1261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1170432" y="299923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170432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907792" y="263347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907792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1901952" y="400507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901952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005072" y="363931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005072" y="3639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914400"/>
          <a:ext cx="34747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548640"/>
                <a:gridCol w="1920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A–D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C–E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D–F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A–B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B–E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B–C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(cycle)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E–F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(cycle)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B–D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(cycle)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E–G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F–G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(cycle)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D–E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(cycle)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4" name="Shape 51"/>
          <p:cNvSpPr/>
          <p:nvPr/>
        </p:nvSpPr>
        <p:spPr>
          <a:xfrm>
            <a:off x="5303520" y="4114800"/>
            <a:ext cx="3474720" cy="5486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5303520" y="4114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MST: AD + CE + DF + AB + BE + EG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weight = 5+5+6+7+7+9 = 39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Space Complexity, Correctness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Algorithm | Design &amp; Analysis of Algorithms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114800" cy="11430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91440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O(E log E) = O(E log V)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 best, average and worst case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114800" cy="1143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91440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 + E)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list + Union-Find parent/rank arrays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40280"/>
          <a:ext cx="4114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Make-set for V vertices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E edges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 log 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Find/Union operations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 α(V))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65760" y="3703320"/>
            <a:ext cx="4114800" cy="9144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" y="3703320"/>
            <a:ext cx="64008" cy="9144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749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 E = O(log V)?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≤ V², so log E ≤ 2 log V. Sorting dominates the running time.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663440" y="2240280"/>
            <a:ext cx="4114800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63440" y="2240280"/>
            <a:ext cx="64008" cy="1143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28600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Correctness: Cut Property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lightest edge crossing any cut belongs to some MST, and Kruskal's picks exactly such an edge each step.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663440" y="3520440"/>
            <a:ext cx="4114800" cy="10972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63440" y="3520440"/>
            <a:ext cx="64008" cy="10972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46320" y="35661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Property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heaviest edge on any cycle is never needed, so rejecting cycle-forming edges keeps the MST optimal.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 vs Prim, Applications &amp; Summary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Algorithm | Design &amp; Analysis of Algorithms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48463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Kruskal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Vertex-based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Union-Find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queue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 log 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 log 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graphs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graphs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Disconnected graph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Gives a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a start vertex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0" y="960120"/>
            <a:ext cx="3291840" cy="22860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0" y="960120"/>
            <a:ext cx="64008" cy="2286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69280" y="100584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Laying cables &amp; pipelines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design (LAN/WAN)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Clustering in machine learning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Circuit &amp; road planning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3520440"/>
            <a:ext cx="8412480" cy="10972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5661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algorithm sorts edges, greedily adds the cheapest one that creates no cycle, and uses Union-Find to detect cycles fast. It builds an optimal MST in O(E log V) time.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Algorithm | Design and Analysis of Algorithms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3977640"/>
            <a:ext cx="457200" cy="3657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114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with Claude (AI assistant by Anthropic)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6035040" y="1280160"/>
            <a:ext cx="1828800" cy="18288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0" y="1463040"/>
            <a:ext cx="548640" cy="128016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1280160"/>
            <a:ext cx="365760" cy="1645920"/>
          </a:xfrm>
          <a:prstGeom prst="line">
            <a:avLst/>
          </a:prstGeom>
          <a:noFill/>
          <a:ln w="19050">
            <a:solidFill>
              <a:srgbClr val="C5CCD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flipV="1">
            <a:off x="6583680" y="1280160"/>
            <a:ext cx="1280160" cy="1463040"/>
          </a:xfrm>
          <a:prstGeom prst="line">
            <a:avLst/>
          </a:prstGeom>
          <a:noFill/>
          <a:ln w="19050">
            <a:solidFill>
              <a:srgbClr val="C5CCD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583680" y="2743200"/>
            <a:ext cx="1645920" cy="18288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6309360" y="2743200"/>
            <a:ext cx="274320" cy="128016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4023360"/>
            <a:ext cx="1645920" cy="182880"/>
          </a:xfrm>
          <a:prstGeom prst="line">
            <a:avLst/>
          </a:prstGeom>
          <a:noFill/>
          <a:ln w="50800">
            <a:solidFill>
              <a:srgbClr val="2A9D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7955280" y="2926080"/>
            <a:ext cx="274320" cy="1280160"/>
          </a:xfrm>
          <a:prstGeom prst="line">
            <a:avLst/>
          </a:prstGeom>
          <a:noFill/>
          <a:ln w="19050">
            <a:solidFill>
              <a:srgbClr val="C5CCD6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812280" y="127101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12280" y="12710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20025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20025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909560" y="20025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09560" y="20025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86600" y="191109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86600" y="19110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69480" y="273405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69480" y="27340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328269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32826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95160" y="401421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95160" y="40142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955280" y="346557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C5CCD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55280" y="34655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33872" y="126187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833872" y="1261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662672" y="107899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62672" y="1078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028432" y="272491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28432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382512" y="254203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82512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108192" y="382219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108192" y="3822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754112" y="4005072"/>
            <a:ext cx="402336" cy="402336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754112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Kruskal's Algorithm</dc:title>
  <dc:subject>PptxGenJS Presentation</dc:subject>
  <dc:creator>PptxGenJS</dc:creator>
  <cp:lastModifiedBy>PptxGenJS</cp:lastModifiedBy>
  <cp:revision>1</cp:revision>
  <dcterms:created xsi:type="dcterms:W3CDTF">2026-10-09T09:50:40Z</dcterms:created>
  <dcterms:modified xsi:type="dcterms:W3CDTF">2026-10-09T09:50:40Z</dcterms:modified>
</cp:coreProperties>
</file>